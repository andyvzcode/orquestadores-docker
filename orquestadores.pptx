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fc5b0c49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fc5b0c49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fc5b0c499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fc5b0c499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fc5b0c499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fc5b0c499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fc5b0c49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fc5b0c49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fc5b0c49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fc5b0c49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fc5b0c49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fc5b0c49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fc5b0c499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fc5b0c49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fc5b0c499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fc5b0c49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fc5b0c49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fc5b0c49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fc5b0c499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6fc5b0c499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fc5b0c499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6fc5b0c499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fc5b0c499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6fc5b0c499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fc5b0c499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fc5b0c499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fc5b0c499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fc5b0c499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fc5b0c499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6fc5b0c499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fc5b0c499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6fc5b0c499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fc5b0c499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fc5b0c49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fc5b0c499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6fc5b0c499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fc5b0c499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6fc5b0c499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fc5b0c499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6fc5b0c499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gif"/><Relationship Id="rId4" Type="http://schemas.openxmlformats.org/officeDocument/2006/relationships/image" Target="../media/image2.gif"/><Relationship Id="rId5" Type="http://schemas.openxmlformats.org/officeDocument/2006/relationships/image" Target="../media/image7.png"/><Relationship Id="rId6" Type="http://schemas.openxmlformats.org/officeDocument/2006/relationships/image" Target="../media/image11.jpg"/><Relationship Id="rId7" Type="http://schemas.openxmlformats.org/officeDocument/2006/relationships/image" Target="../media/image5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ocs.docker.com/compose/" TargetMode="External"/><Relationship Id="rId4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pabpereza.dev/docs/cursos/docker/docker_compose_como_definir_y_ejecutar_aplicaciones_con_multiples_contenedores" TargetMode="External"/><Relationship Id="rId4" Type="http://schemas.openxmlformats.org/officeDocument/2006/relationships/hyperlink" Target="https://pabpereza.dev/docs/cursos/docker/docker_swarm_orquestacion_de_contenedores_y_escalabilidad" TargetMode="External"/><Relationship Id="rId5" Type="http://schemas.openxmlformats.org/officeDocument/2006/relationships/hyperlink" Target="https://pabpereza.dev/docs/cursos/kubernet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Orquestación</a:t>
            </a:r>
            <a:r>
              <a:rPr lang="es"/>
              <a:t> de contenedores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Infraestructura</a:t>
            </a:r>
            <a:r>
              <a:rPr lang="es"/>
              <a:t> como </a:t>
            </a:r>
            <a:r>
              <a:rPr lang="es"/>
              <a:t>código</a:t>
            </a:r>
            <a:r>
              <a:rPr lang="es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¿Qué es la orquestación de contenedores?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459700" cy="25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La orquestación de contenedores es el proceso de automatizar las redes y la administración de contenedores para que pueda implementar aplicaciones a escala. 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1"/>
                </a:solidFill>
              </a:rPr>
              <a:t>La contenerización agrupa el código de una aplicación con todos los archivos y bibliotecas que necesita para ejecutarse en cualquier infraestructura. Las arquitecturas de microservicios pueden tener cientos, o incluso miles, de contenedores a medida que las aplicaciones crecen y se vuelven más complejas.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Stack of blue container boxes with sky background. Cargo freight shipping for import and export logistics. Business and transportation concept. 3D illustration rendering (proporcionado por Getty Images)"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4150" y="3745675"/>
            <a:ext cx="2272348" cy="13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Casos de uso de orquestación de contenedores</a:t>
            </a:r>
            <a:endParaRPr b="1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s" sz="1360">
                <a:solidFill>
                  <a:schemeClr val="dk1"/>
                </a:solidFill>
              </a:rPr>
              <a:t>Las herramientas de orquestación de contenedores se vuelven necesarias cuando usted debe:</a:t>
            </a:r>
            <a:endParaRPr sz="1360">
              <a:solidFill>
                <a:schemeClr val="dk1"/>
              </a:solidFill>
            </a:endParaRPr>
          </a:p>
          <a:p>
            <a:pPr indent="-32766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60"/>
              <a:buChar char="●"/>
            </a:pPr>
            <a:r>
              <a:rPr lang="es" sz="1560">
                <a:solidFill>
                  <a:schemeClr val="dk1"/>
                </a:solidFill>
              </a:rPr>
              <a:t>Administrar y escalar los contenedores en varias instancias. </a:t>
            </a:r>
            <a:endParaRPr sz="1560">
              <a:solidFill>
                <a:schemeClr val="dk1"/>
              </a:solidFill>
            </a:endParaRPr>
          </a:p>
          <a:p>
            <a:pPr indent="-32766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0"/>
              <a:buChar char="●"/>
            </a:pPr>
            <a:r>
              <a:rPr lang="es" sz="1560">
                <a:solidFill>
                  <a:schemeClr val="dk1"/>
                </a:solidFill>
              </a:rPr>
              <a:t>Ejecutar muchas aplicaciones en contenedores diferentes.</a:t>
            </a:r>
            <a:endParaRPr sz="1560">
              <a:solidFill>
                <a:schemeClr val="dk1"/>
              </a:solidFill>
            </a:endParaRPr>
          </a:p>
          <a:p>
            <a:pPr indent="-32766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0"/>
              <a:buChar char="●"/>
            </a:pPr>
            <a:r>
              <a:rPr lang="es" sz="1560">
                <a:solidFill>
                  <a:schemeClr val="dk1"/>
                </a:solidFill>
              </a:rPr>
              <a:t>Ejecutar diferentes versiones de aplicaciones (por ejemplo, pruebas y producción en CI/CD) a la vez.</a:t>
            </a:r>
            <a:endParaRPr sz="1560">
              <a:solidFill>
                <a:schemeClr val="dk1"/>
              </a:solidFill>
            </a:endParaRPr>
          </a:p>
          <a:p>
            <a:pPr indent="-32766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0"/>
              <a:buChar char="●"/>
            </a:pPr>
            <a:r>
              <a:rPr lang="es" sz="1560">
                <a:solidFill>
                  <a:schemeClr val="dk1"/>
                </a:solidFill>
              </a:rPr>
              <a:t>Garantizar la continuidad del servicio de aplicaciones en caso de que se produzca un error en el servidor mediante la ejecución de varias instancias duplicadas (réplicas) de un contenedor.</a:t>
            </a:r>
            <a:endParaRPr sz="1560">
              <a:solidFill>
                <a:schemeClr val="dk1"/>
              </a:solidFill>
            </a:endParaRPr>
          </a:p>
          <a:p>
            <a:pPr indent="-32766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0"/>
              <a:buChar char="●"/>
            </a:pPr>
            <a:r>
              <a:rPr lang="es" sz="1560">
                <a:solidFill>
                  <a:schemeClr val="dk1"/>
                </a:solidFill>
              </a:rPr>
              <a:t>Ejecutar varias instancias de una aplicación en varias regiones geográficas diferentes.</a:t>
            </a:r>
            <a:endParaRPr sz="1560">
              <a:solidFill>
                <a:schemeClr val="dk1"/>
              </a:solidFill>
            </a:endParaRPr>
          </a:p>
          <a:p>
            <a:pPr indent="-32766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0"/>
              <a:buChar char="●"/>
            </a:pPr>
            <a:r>
              <a:rPr lang="es" sz="1560">
                <a:solidFill>
                  <a:schemeClr val="dk1"/>
                </a:solidFill>
              </a:rPr>
              <a:t>Maximizar el uso de varias instancias de servidor con fines presupuestarios.</a:t>
            </a:r>
            <a:endParaRPr sz="1560">
              <a:solidFill>
                <a:schemeClr val="dk1"/>
              </a:solidFill>
            </a:endParaRPr>
          </a:p>
          <a:p>
            <a:pPr indent="-32766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0"/>
              <a:buChar char="●"/>
            </a:pPr>
            <a:r>
              <a:rPr lang="es" sz="1560">
                <a:solidFill>
                  <a:schemeClr val="dk1"/>
                </a:solidFill>
              </a:rPr>
              <a:t>Ejecutar aplicaciones en contenedores de gran tamaño compuestas por miles de microservicios diferentes.</a:t>
            </a:r>
            <a:endParaRPr sz="156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120"/>
              <a:t>¿Cuáles son los beneficios de la orquestación de contenedores?</a:t>
            </a:r>
            <a:endParaRPr sz="2120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3291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A</a:t>
            </a:r>
            <a:r>
              <a:rPr b="1" lang="es" sz="1700">
                <a:solidFill>
                  <a:schemeClr val="dk1"/>
                </a:solidFill>
              </a:rPr>
              <a:t>dministrar arquitecturas de contenedores complejas sin una solución de orquestación de contenedores puede ser difícil. 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La orquestación de contenedores administra la creación, la configuración, la programación, el despliegue y la eliminación de contenedores. 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También es compatible con lo siguiente: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75" name="Google Shape;75;p16"/>
          <p:cNvSpPr txBox="1"/>
          <p:nvPr>
            <p:ph idx="2" type="body"/>
          </p:nvPr>
        </p:nvSpPr>
        <p:spPr>
          <a:xfrm>
            <a:off x="3812375" y="1203125"/>
            <a:ext cx="501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0734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s" sz="1600">
                <a:solidFill>
                  <a:schemeClr val="dk1"/>
                </a:solidFill>
              </a:rPr>
              <a:t>Equilibrio de carga de aplicaciones y administración del tráfico.</a:t>
            </a:r>
            <a:endParaRPr b="1"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-30734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s" sz="1600">
                <a:solidFill>
                  <a:schemeClr val="dk1"/>
                </a:solidFill>
              </a:rPr>
              <a:t>Continuidad del servicio de aplicaciones en todos los contenedores.</a:t>
            </a:r>
            <a:endParaRPr b="1"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-30734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s" sz="1600">
                <a:solidFill>
                  <a:schemeClr val="dk1"/>
                </a:solidFill>
              </a:rPr>
              <a:t>Seguridad en la contenerización.</a:t>
            </a:r>
            <a:endParaRPr b="1"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-30734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s" sz="1600">
                <a:solidFill>
                  <a:schemeClr val="dk1"/>
                </a:solidFill>
              </a:rPr>
              <a:t>Supervisión del estado de los contenedores.</a:t>
            </a:r>
            <a:endParaRPr b="1"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-30734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s" sz="1600">
                <a:solidFill>
                  <a:schemeClr val="dk1"/>
                </a:solidFill>
              </a:rPr>
              <a:t>Contenedores de recursos a partir de recursos de instancias o servidores subyacentes.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Orquestadores </a:t>
            </a:r>
            <a:r>
              <a:rPr b="1" lang="es"/>
              <a:t>más</a:t>
            </a:r>
            <a:r>
              <a:rPr b="1" lang="es"/>
              <a:t> comunes de Contenedores </a:t>
            </a:r>
            <a:endParaRPr b="1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s" sz="2800">
                <a:solidFill>
                  <a:schemeClr val="dk1"/>
                </a:solidFill>
              </a:rPr>
              <a:t>Openshift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s" sz="2800">
                <a:solidFill>
                  <a:schemeClr val="dk1"/>
                </a:solidFill>
              </a:rPr>
              <a:t>Basados en Cloud: GKE, ECS, EKS, AKS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s" sz="2800">
                <a:solidFill>
                  <a:schemeClr val="dk1"/>
                </a:solidFill>
              </a:rPr>
              <a:t>Kubernetes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s" sz="2800">
                <a:solidFill>
                  <a:schemeClr val="dk1"/>
                </a:solidFill>
              </a:rPr>
              <a:t>Docker Swarm</a:t>
            </a:r>
            <a:endParaRPr b="1" sz="2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 sz="2800">
                <a:solidFill>
                  <a:schemeClr val="dk1"/>
                </a:solidFill>
              </a:rPr>
              <a:t>Docker Compose</a:t>
            </a:r>
            <a:br>
              <a:rPr lang="es"/>
            </a:b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Openshift</a:t>
            </a:r>
            <a:endParaRPr b="1"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s" sz="1460">
                <a:solidFill>
                  <a:schemeClr val="dk1"/>
                </a:solidFill>
              </a:rPr>
              <a:t>“Red Hat OpenShift Container Platform es una plataforma de contenedores de Kubernetes empresarial, con operaciones automatizadas integrales para gestionar implementaciones de nube híbrida y </a:t>
            </a:r>
            <a:r>
              <a:rPr lang="es" sz="1460">
                <a:solidFill>
                  <a:schemeClr val="dk1"/>
                </a:solidFill>
              </a:rPr>
              <a:t>multcloud</a:t>
            </a:r>
            <a:r>
              <a:rPr lang="es" sz="1460">
                <a:solidFill>
                  <a:schemeClr val="dk1"/>
                </a:solidFill>
              </a:rPr>
              <a:t>”.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s" sz="1460">
                <a:solidFill>
                  <a:schemeClr val="dk1"/>
                </a:solidFill>
              </a:rPr>
              <a:t>Las diferencias que nos podríamos encontrar con una solución con solo Kubernetes serían: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s" sz="1460">
                <a:solidFill>
                  <a:schemeClr val="dk1"/>
                </a:solidFill>
              </a:rPr>
              <a:t>Sistema Operativo</a:t>
            </a:r>
            <a:r>
              <a:rPr lang="es" sz="1460">
                <a:solidFill>
                  <a:schemeClr val="dk1"/>
                </a:solidFill>
              </a:rPr>
              <a:t>: Openshift solo con Linux, Fedora y CentOS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s" sz="1460">
                <a:solidFill>
                  <a:schemeClr val="dk1"/>
                </a:solidFill>
              </a:rPr>
              <a:t>Seguridad</a:t>
            </a:r>
            <a:r>
              <a:rPr lang="es" sz="1460">
                <a:solidFill>
                  <a:schemeClr val="dk1"/>
                </a:solidFill>
              </a:rPr>
              <a:t>: Co Kubernetes está en mano de usuario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s" sz="1460">
                <a:solidFill>
                  <a:schemeClr val="dk1"/>
                </a:solidFill>
              </a:rPr>
              <a:t>CI/CD</a:t>
            </a:r>
            <a:r>
              <a:rPr lang="es" sz="1460">
                <a:solidFill>
                  <a:schemeClr val="dk1"/>
                </a:solidFill>
              </a:rPr>
              <a:t>: integrado en Openshift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s" sz="1460">
                <a:solidFill>
                  <a:schemeClr val="dk1"/>
                </a:solidFill>
              </a:rPr>
              <a:t>Escalabilidad</a:t>
            </a:r>
            <a:r>
              <a:rPr lang="es" sz="1460">
                <a:solidFill>
                  <a:schemeClr val="dk1"/>
                </a:solidFill>
              </a:rPr>
              <a:t>: Openshift para proyectos empresariales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b="1" lang="es" sz="1460">
                <a:solidFill>
                  <a:schemeClr val="dk1"/>
                </a:solidFill>
              </a:rPr>
              <a:t>Networking</a:t>
            </a:r>
            <a:r>
              <a:rPr lang="es" sz="1460">
                <a:solidFill>
                  <a:schemeClr val="dk1"/>
                </a:solidFill>
              </a:rPr>
              <a:t>: en Openshif utilizaríamos Open v Switch</a:t>
            </a:r>
            <a:endParaRPr sz="1460">
              <a:solidFill>
                <a:schemeClr val="dk1"/>
              </a:solidFill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2800" y="396800"/>
            <a:ext cx="669150" cy="66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 title="Screenshot 2025-11-04 at 15.28.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300" y="169625"/>
            <a:ext cx="6264249" cy="466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Basados en Cloud: GKE, ECS, EKS, AKS</a:t>
            </a:r>
            <a:endParaRPr b="1"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Dentro de los proveedores cloud más importantes AWS, Google Cloud Platform y Azure, podemos encontrarnos las soluciones que ellos utilizan para la orquestación de contenedores: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AWS</a:t>
            </a:r>
            <a:r>
              <a:rPr lang="es">
                <a:solidFill>
                  <a:schemeClr val="dk1"/>
                </a:solidFill>
              </a:rPr>
              <a:t>: ECS, EKS, Fargate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Google Cloud</a:t>
            </a:r>
            <a:r>
              <a:rPr lang="es">
                <a:solidFill>
                  <a:schemeClr val="dk1"/>
                </a:solidFill>
              </a:rPr>
              <a:t>: GKE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Azure</a:t>
            </a:r>
            <a:r>
              <a:rPr lang="es">
                <a:solidFill>
                  <a:schemeClr val="dk1"/>
                </a:solidFill>
              </a:rPr>
              <a:t>: AKS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1"/>
                </a:solidFill>
              </a:rPr>
              <a:t>Será interesante analizarlas en el caso de que estemos utilizando para nuestra infraestructura alguno de estos proveedores Cloud. Además, de la compatibilidad que tienen con Kubernetes.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Kubernetes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7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s" sz="1220">
                <a:solidFill>
                  <a:schemeClr val="dk1"/>
                </a:solidFill>
              </a:rPr>
              <a:t>Kubernetes o K8s, es una plataforma open source, originariamente diseñada por Google y ahora mantenido por Cloud Native Computing Foundation. Es la plataforma más conocida para orquestación de Dockers.</a:t>
            </a:r>
            <a:endParaRPr sz="122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s" sz="1220">
                <a:solidFill>
                  <a:schemeClr val="dk1"/>
                </a:solidFill>
              </a:rPr>
              <a:t>La principal ventaja de usar Kubernetes en su entorno, es que le ofrece la plataforma para programar y ejecutar contenedores en clústeres de máquinas virtuales o físicas.</a:t>
            </a:r>
            <a:endParaRPr sz="122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s" sz="1220">
                <a:solidFill>
                  <a:schemeClr val="dk1"/>
                </a:solidFill>
              </a:rPr>
              <a:t>Con Kubernetes puedes : </a:t>
            </a:r>
            <a:endParaRPr sz="1220">
              <a:solidFill>
                <a:schemeClr val="dk1"/>
              </a:solidFill>
            </a:endParaRPr>
          </a:p>
          <a:p>
            <a:pPr indent="-30607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20"/>
              <a:buChar char="●"/>
            </a:pPr>
            <a:r>
              <a:rPr lang="es" sz="1220">
                <a:solidFill>
                  <a:schemeClr val="dk1"/>
                </a:solidFill>
              </a:rPr>
              <a:t>Orquestar contenedores en múltiples hosts</a:t>
            </a:r>
            <a:endParaRPr sz="1220">
              <a:solidFill>
                <a:schemeClr val="dk1"/>
              </a:solidFill>
            </a:endParaRPr>
          </a:p>
          <a:p>
            <a:pPr indent="-30607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"/>
              <a:buChar char="●"/>
            </a:pPr>
            <a:r>
              <a:rPr lang="es" sz="1220">
                <a:solidFill>
                  <a:schemeClr val="dk1"/>
                </a:solidFill>
              </a:rPr>
              <a:t>Hacer un mejor uso del hardware para maximizar los recursos necesarios para ejecutar sus aplicaciones empresariales</a:t>
            </a:r>
            <a:endParaRPr sz="1220">
              <a:solidFill>
                <a:schemeClr val="dk1"/>
              </a:solidFill>
            </a:endParaRPr>
          </a:p>
          <a:p>
            <a:pPr indent="-30607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"/>
              <a:buChar char="●"/>
            </a:pPr>
            <a:r>
              <a:rPr lang="es" sz="1220">
                <a:solidFill>
                  <a:schemeClr val="dk1"/>
                </a:solidFill>
              </a:rPr>
              <a:t>Controlar y automatizar las implementaciones y actualizaciones de las aplicaciones</a:t>
            </a:r>
            <a:endParaRPr sz="1220">
              <a:solidFill>
                <a:schemeClr val="dk1"/>
              </a:solidFill>
            </a:endParaRPr>
          </a:p>
          <a:p>
            <a:pPr indent="-30607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"/>
              <a:buChar char="●"/>
            </a:pPr>
            <a:r>
              <a:rPr lang="es" sz="1220">
                <a:solidFill>
                  <a:schemeClr val="dk1"/>
                </a:solidFill>
              </a:rPr>
              <a:t>Montar y añadir almacenamiento para ejecutar aplicaciones con estado</a:t>
            </a:r>
            <a:endParaRPr sz="1220">
              <a:solidFill>
                <a:schemeClr val="dk1"/>
              </a:solidFill>
            </a:endParaRPr>
          </a:p>
          <a:p>
            <a:pPr indent="-30607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"/>
              <a:buChar char="●"/>
            </a:pPr>
            <a:r>
              <a:rPr lang="es" sz="1220">
                <a:solidFill>
                  <a:schemeClr val="dk1"/>
                </a:solidFill>
              </a:rPr>
              <a:t>Escalar las aplicaciones en contenedores y sus recursos sobre la marcha</a:t>
            </a:r>
            <a:endParaRPr sz="1220">
              <a:solidFill>
                <a:schemeClr val="dk1"/>
              </a:solidFill>
            </a:endParaRPr>
          </a:p>
          <a:p>
            <a:pPr indent="-30607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"/>
              <a:buChar char="●"/>
            </a:pPr>
            <a:r>
              <a:rPr lang="es" sz="1220">
                <a:solidFill>
                  <a:schemeClr val="dk1"/>
                </a:solidFill>
              </a:rPr>
              <a:t>Administrar servicios de forma declarativa, que garanticen que las aplicaciones implementadas siempre se ejecuten del modo que las implementó</a:t>
            </a:r>
            <a:endParaRPr sz="1220">
              <a:solidFill>
                <a:schemeClr val="dk1"/>
              </a:solidFill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5885" y="271425"/>
            <a:ext cx="726817" cy="70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Screenshot 2025-11-04 at 15.55.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2000" y="101775"/>
            <a:ext cx="4317502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Compose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Es una herramienta que simplifica el uso de dockers a partir de archivos YAML, además de la posibilidad de utilizarlo en Windows, a </a:t>
            </a:r>
            <a:r>
              <a:rPr lang="es">
                <a:solidFill>
                  <a:schemeClr val="dk1"/>
                </a:solidFill>
              </a:rPr>
              <a:t>diferencia</a:t>
            </a:r>
            <a:r>
              <a:rPr lang="es">
                <a:solidFill>
                  <a:schemeClr val="dk1"/>
                </a:solidFill>
              </a:rPr>
              <a:t> de otros sistemas de gestor de contenedores.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* </a:t>
            </a:r>
            <a:r>
              <a:rPr lang="es">
                <a:solidFill>
                  <a:schemeClr val="dk1"/>
                </a:solidFill>
              </a:rPr>
              <a:t>Principalmente usada en entornos de desarrollo.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Características: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Múltiples entornos aislados en un solo host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Conservar los datos de volumen cuando se crean contenedores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Solo vuelva a crear contenedores que hayan cambiado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Variables y movimiento de una composición entre entornos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4695" y="401563"/>
            <a:ext cx="877625" cy="65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Swarm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Es una herramienta integrada en Docker que permite agrupar una serie de hosts de Docker en un clúster y gestionarlos de forma centralizada, así como orquestar contenedores.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* Usando principalmente en ambientes productivos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Sus ventajas serían: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Integrado con la API de Docker Engine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Redistribuye las cargas de trabajo si hay algún fallo en los nodos. Así se asegura alta disponibilidad.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Administra los grupos de contenedores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Posible escalado manual y Rolling updates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No es necesario ninguna configuración adicional para utilizarlo con docker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4700" y="361947"/>
            <a:ext cx="634300" cy="65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Cual utilizar y cuando ?</a:t>
            </a:r>
            <a:endParaRPr/>
          </a:p>
        </p:txBody>
      </p:sp>
      <p:pic>
        <p:nvPicPr>
          <p:cNvPr descr="a man with his arms outstretched is wearing a tan shirt and blue jeans (proporcionado por Tenor)" id="131" name="Google Shape;13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0900" y="1152475"/>
            <a:ext cx="3311000" cy="331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hexagon with a white steering wheel in the middle (proporcionado por Tenor)" id="132" name="Google Shape;13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7925" y="1520481"/>
            <a:ext cx="1049675" cy="101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3225" y="1347050"/>
            <a:ext cx="845200" cy="87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3221" y="2783825"/>
            <a:ext cx="1049675" cy="7889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whale with containers on its back (proporcionado por Tenor)" id="135" name="Google Shape;135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32450" y="2941900"/>
            <a:ext cx="1049675" cy="104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Cómo</a:t>
            </a:r>
            <a:r>
              <a:rPr lang="es"/>
              <a:t> trabajar con docker compose 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Herramienta que permite definir y ejecutar múltiples contenedores de Docker como una sola aplicación.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💡 Usa un archivo </a:t>
            </a:r>
            <a:r>
              <a:rPr b="1" lang="es">
                <a:solidFill>
                  <a:schemeClr val="dk1"/>
                </a:solidFill>
              </a:rPr>
              <a:t>docker-compose.yml</a:t>
            </a:r>
            <a:r>
              <a:rPr lang="es">
                <a:solidFill>
                  <a:schemeClr val="dk1"/>
                </a:solidFill>
              </a:rPr>
              <a:t> para describir:</a:t>
            </a:r>
            <a:endParaRPr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s" sz="2100">
                <a:solidFill>
                  <a:schemeClr val="dk1"/>
                </a:solidFill>
              </a:rPr>
              <a:t>Los servicios (containers)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s" sz="2100">
                <a:solidFill>
                  <a:schemeClr val="dk1"/>
                </a:solidFill>
              </a:rPr>
              <a:t>Las redes : red interna donde se comunican nuestros servicios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s" sz="2100">
                <a:solidFill>
                  <a:schemeClr val="dk1"/>
                </a:solidFill>
              </a:rPr>
              <a:t>Los volúmenes: Persistencia de almacenamiento de </a:t>
            </a:r>
            <a:r>
              <a:rPr lang="es" sz="2100">
                <a:solidFill>
                  <a:schemeClr val="dk1"/>
                </a:solidFill>
              </a:rPr>
              <a:t>nuestros</a:t>
            </a:r>
            <a:r>
              <a:rPr lang="es" sz="2100">
                <a:solidFill>
                  <a:schemeClr val="dk1"/>
                </a:solidFill>
              </a:rPr>
              <a:t> servicios.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7" title="Screenshot 2025-11-04 at 16.09.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1600" y="152400"/>
            <a:ext cx="2902058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8" title="Screenshot 2025-11-04 at 16.09.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600" y="605953"/>
            <a:ext cx="8840801" cy="357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idx="1" type="body"/>
          </p:nvPr>
        </p:nvSpPr>
        <p:spPr>
          <a:xfrm>
            <a:off x="311700" y="4000500"/>
            <a:ext cx="85206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https://docs.docker.com/compose/</a:t>
            </a:r>
            <a:endParaRPr/>
          </a:p>
        </p:txBody>
      </p:sp>
      <p:pic>
        <p:nvPicPr>
          <p:cNvPr id="157" name="Google Shape;157;p29" title="Screenshot 2025-11-04 at 16.12.1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125" y="423313"/>
            <a:ext cx="8639175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Docker SWARM como lo usamos </a:t>
            </a:r>
            <a:endParaRPr b="1"/>
          </a:p>
        </p:txBody>
      </p:sp>
      <p:sp>
        <p:nvSpPr>
          <p:cNvPr id="163" name="Google Shape;16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chemeClr val="dk1"/>
                </a:solidFill>
              </a:rPr>
              <a:t>Viene por defecto </a:t>
            </a:r>
            <a:r>
              <a:rPr lang="es" sz="2100">
                <a:solidFill>
                  <a:schemeClr val="dk1"/>
                </a:solidFill>
              </a:rPr>
              <a:t>desactivado</a:t>
            </a:r>
            <a:r>
              <a:rPr lang="es" sz="2100">
                <a:solidFill>
                  <a:schemeClr val="dk1"/>
                </a:solidFill>
              </a:rPr>
              <a:t> toca activarlo usando el comando 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b="1" lang="es" sz="2400">
                <a:solidFill>
                  <a:schemeClr val="dk1"/>
                </a:solidFill>
              </a:rPr>
              <a:t> docker swarm init</a:t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Comandos para DOCKER SWARM </a:t>
            </a:r>
            <a:endParaRPr/>
          </a:p>
        </p:txBody>
      </p:sp>
      <p:pic>
        <p:nvPicPr>
          <p:cNvPr id="169" name="Google Shape;169;p31" title="Screenshot 2025-11-04 at 16.44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575" y="1408875"/>
            <a:ext cx="7229475" cy="24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Lanzar un despliegue de DOCKER SWARM</a:t>
            </a:r>
            <a:endParaRPr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https://pabpereza.dev/docs/cursos/docker/docker_compose_como_definir_y_ejecutar_aplicaciones_con_multiples_contenedores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 u="sng">
                <a:solidFill>
                  <a:schemeClr val="hlink"/>
                </a:solidFill>
                <a:hlinkClick r:id="rId4"/>
              </a:rPr>
              <a:t>https://pabpereza.dev/docs/cursos/docker/docker_swarm_orquestacion_de_contenedores_y_escalabilidad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 u="sng">
                <a:solidFill>
                  <a:schemeClr val="hlink"/>
                </a:solidFill>
                <a:hlinkClick r:id="rId5"/>
              </a:rPr>
              <a:t>https://pabpereza.dev/docs/cursos/kubernetes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